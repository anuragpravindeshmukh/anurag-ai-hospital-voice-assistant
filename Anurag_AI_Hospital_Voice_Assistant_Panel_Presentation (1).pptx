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640080"/>
            <a:ext cx="640080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200" b="1" i="0">
                <a:solidFill>
                  <a:srgbClr val="26D2BE"/>
                </a:solidFill>
                <a:latin typeface="Aptos"/>
              </a:rPr>
              <a:t>PROJECT PRESENTATION  •  AI +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6583680" cy="10058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3400" b="1" i="0">
                <a:solidFill>
                  <a:srgbClr val="F6F9FD"/>
                </a:solidFill>
                <a:latin typeface="Aptos"/>
              </a:rPr>
              <a:t>ANURAG AI HOSPITAL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487168"/>
            <a:ext cx="6583680" cy="5943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2500" b="1" i="0">
                <a:solidFill>
                  <a:srgbClr val="60DCE8"/>
                </a:solidFill>
                <a:latin typeface="Aptos"/>
              </a:rPr>
              <a:t>Multilingual AI Voice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337560"/>
            <a:ext cx="6126480" cy="8229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700" b="0" i="0">
                <a:solidFill>
                  <a:srgbClr val="B2C1D3"/>
                </a:solidFill>
                <a:latin typeface="Aptos"/>
              </a:rPr>
              <a:t>A voice-based assistant for hospital information and appointment-related requests.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4617720"/>
            <a:ext cx="3246120" cy="502920"/>
          </a:xfrm>
          <a:prstGeom prst="roundRect">
            <a:avLst/>
          </a:prstGeom>
          <a:solidFill>
            <a:srgbClr val="223E5B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4736592"/>
            <a:ext cx="2971800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200" b="1" i="0">
                <a:solidFill>
                  <a:srgbClr val="F6F9FD"/>
                </a:solidFill>
                <a:latin typeface="Aptos"/>
              </a:rPr>
              <a:t>Presented by: Anurag Deshmukh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6172200"/>
            <a:ext cx="6949440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000" b="0" i="1">
                <a:solidFill>
                  <a:srgbClr val="B2C1D3"/>
                </a:solidFill>
                <a:latin typeface="Aptos"/>
              </a:rPr>
              <a:t>Customized from an existing open-source voice-agent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560320"/>
            <a:ext cx="118872" cy="365760"/>
          </a:xfrm>
          <a:prstGeom prst="roundRect">
            <a:avLst/>
          </a:prstGeom>
          <a:solidFill>
            <a:srgbClr val="60DCE8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02752" y="2377440"/>
            <a:ext cx="118872" cy="731520"/>
          </a:xfrm>
          <a:prstGeom prst="roundRect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50224" y="2194560"/>
            <a:ext cx="118872" cy="1097280"/>
          </a:xfrm>
          <a:prstGeom prst="roundRect">
            <a:avLst/>
          </a:prstGeom>
          <a:solidFill>
            <a:srgbClr val="60DCE8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97696" y="2446020"/>
            <a:ext cx="118872" cy="594360"/>
          </a:xfrm>
          <a:prstGeom prst="roundRect">
            <a:avLst/>
          </a:prstGeom>
          <a:solidFill>
            <a:srgbClr val="60DCE8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45167" y="2034540"/>
            <a:ext cx="118872" cy="1417320"/>
          </a:xfrm>
          <a:prstGeom prst="roundRect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92640" y="2308860"/>
            <a:ext cx="118872" cy="868680"/>
          </a:xfrm>
          <a:prstGeom prst="roundRect">
            <a:avLst/>
          </a:prstGeom>
          <a:solidFill>
            <a:srgbClr val="60DCE8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40112" y="2514600"/>
            <a:ext cx="118872" cy="457200"/>
          </a:xfrm>
          <a:prstGeom prst="roundRect">
            <a:avLst/>
          </a:prstGeom>
          <a:solidFill>
            <a:srgbClr val="60DCE8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387584" y="2217420"/>
            <a:ext cx="118872" cy="1051560"/>
          </a:xfrm>
          <a:prstGeom prst="roundRect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735055" y="2423160"/>
            <a:ext cx="118872" cy="640080"/>
          </a:xfrm>
          <a:prstGeom prst="roundRect">
            <a:avLst/>
          </a:prstGeom>
          <a:solidFill>
            <a:srgbClr val="60DCE8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03920" y="1051560"/>
            <a:ext cx="1828800" cy="1828800"/>
          </a:xfrm>
          <a:prstGeom prst="ellipse">
            <a:avLst/>
          </a:prstGeom>
          <a:solidFill>
            <a:srgbClr val="223E5B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38360" y="1920240"/>
            <a:ext cx="1371600" cy="1371600"/>
          </a:xfrm>
          <a:prstGeom prst="ellipse">
            <a:avLst/>
          </a:prstGeom>
          <a:solidFill>
            <a:srgbClr val="223E5B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5320" y="3657600"/>
            <a:ext cx="1097280" cy="1097280"/>
          </a:xfrm>
          <a:prstGeom prst="ellipse">
            <a:avLst/>
          </a:prstGeom>
          <a:solidFill>
            <a:srgbClr val="223E5B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95560" y="3886200"/>
            <a:ext cx="777240" cy="777240"/>
          </a:xfrm>
          <a:prstGeom prst="ellipse">
            <a:avLst/>
          </a:prstGeom>
          <a:solidFill>
            <a:srgbClr val="223E5B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2600" b="1" i="0">
                <a:solidFill>
                  <a:srgbClr val="F6F9FD"/>
                </a:solidFill>
                <a:latin typeface="Aptos"/>
              </a:rPr>
              <a:t>01 |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0392"/>
            <a:ext cx="685800" cy="50292"/>
          </a:xfrm>
          <a:prstGeom prst="rect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Why a hospital voice assistant can be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/>
            <a:r>
              <a:rPr sz="900" b="0" i="0">
                <a:solidFill>
                  <a:srgbClr val="B2C1D3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29000" cy="182880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59436" cy="1828800"/>
          </a:xfrm>
          <a:prstGeom prst="rect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31089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500" b="1" i="0">
                <a:solidFill>
                  <a:srgbClr val="F6F9FD"/>
                </a:solidFill>
                <a:latin typeface="Aptos"/>
              </a:rPr>
              <a:t>Repeated calls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3108960" cy="120700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200" b="0" i="0">
                <a:solidFill>
                  <a:srgbClr val="B2C1D3"/>
                </a:solidFill>
                <a:latin typeface="Aptos"/>
              </a:rPr>
              <a:t>Patients often ask about timings, consultation fees, doctor availability, and appointment procedures.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429000" cy="182880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59436" cy="1828800"/>
          </a:xfrm>
          <a:prstGeom prst="rect">
            <a:avLst/>
          </a:prstGeom>
          <a:solidFill>
            <a:srgbClr val="60DCE8"/>
          </a:solidFill>
          <a:ln>
            <a:solidFill>
              <a:srgbClr val="6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37360"/>
            <a:ext cx="31089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500" b="1" i="0">
                <a:solidFill>
                  <a:srgbClr val="F6F9FD"/>
                </a:solidFill>
                <a:latin typeface="Aptos"/>
              </a:rPr>
              <a:t>Manual handling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21408"/>
            <a:ext cx="3108960" cy="120700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200" b="0" i="0">
                <a:solidFill>
                  <a:srgbClr val="B2C1D3"/>
                </a:solidFill>
                <a:latin typeface="Aptos"/>
              </a:rPr>
              <a:t>Reception teams may need to answer similar questions while managing visitors.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00200"/>
            <a:ext cx="3429000" cy="182880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00200"/>
            <a:ext cx="59436" cy="1828800"/>
          </a:xfrm>
          <a:prstGeom prst="rect">
            <a:avLst/>
          </a:prstGeom>
          <a:solidFill>
            <a:srgbClr val="67E1A6"/>
          </a:solidFill>
          <a:ln>
            <a:solidFill>
              <a:srgbClr val="67E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37360"/>
            <a:ext cx="31089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500" b="1" i="0">
                <a:solidFill>
                  <a:srgbClr val="F6F9FD"/>
                </a:solidFill>
                <a:latin typeface="Aptos"/>
              </a:rPr>
              <a:t>Access and language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121408"/>
            <a:ext cx="3108960" cy="120700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200" b="0" i="0">
                <a:solidFill>
                  <a:srgbClr val="B2C1D3"/>
                </a:solidFill>
                <a:latin typeface="Aptos"/>
              </a:rPr>
              <a:t>A voice interface can make basic information easier for callers who prefer speaking.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77639"/>
            <a:ext cx="10698480" cy="1188720"/>
          </a:xfrm>
          <a:prstGeom prst="roundRect">
            <a:avLst/>
          </a:prstGeom>
          <a:solidFill>
            <a:srgbClr val="223E5B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87952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500" b="1" i="0">
                <a:solidFill>
                  <a:srgbClr val="26D2BE"/>
                </a:solidFill>
                <a:latin typeface="Aptos"/>
              </a:rPr>
              <a:t>PROJECT GOAL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72000"/>
            <a:ext cx="9966960" cy="3840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800" b="1" i="0">
                <a:solidFill>
                  <a:srgbClr val="F6F9FD"/>
                </a:solidFill>
                <a:latin typeface="Aptos"/>
              </a:rPr>
              <a:t>Provide a conversational phone interface for hospital FAQs and structured appointment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2600" b="1" i="0">
                <a:solidFill>
                  <a:srgbClr val="F6F9FD"/>
                </a:solidFill>
                <a:latin typeface="Aptos"/>
              </a:rPr>
              <a:t>02 | 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0392"/>
            <a:ext cx="685800" cy="50292"/>
          </a:xfrm>
          <a:prstGeom prst="rect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A phone-first conversational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/>
            <a:r>
              <a:rPr sz="900" b="0" i="0">
                <a:solidFill>
                  <a:srgbClr val="B2C1D3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1691640" cy="160020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50592"/>
            <a:ext cx="150876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300" b="1" i="0">
                <a:solidFill>
                  <a:srgbClr val="26D2BE"/>
                </a:solidFill>
                <a:latin typeface="Aptos"/>
              </a:rPr>
              <a:t>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834640"/>
            <a:ext cx="1463040" cy="5943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100" b="0" i="0">
                <a:solidFill>
                  <a:srgbClr val="F6F9FD"/>
                </a:solidFill>
                <a:latin typeface="Aptos"/>
              </a:rPr>
              <a:t>Patient calls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31720" y="2926080"/>
            <a:ext cx="502920" cy="0"/>
          </a:xfrm>
          <a:prstGeom prst="line">
            <a:avLst/>
          </a:prstGeom>
          <a:ln w="21590">
            <a:solidFill>
              <a:srgbClr val="26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2148840"/>
            <a:ext cx="1691640" cy="160020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450592"/>
            <a:ext cx="150876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300" b="1" i="0">
                <a:solidFill>
                  <a:srgbClr val="60DCE8"/>
                </a:solidFill>
                <a:latin typeface="Aptos"/>
              </a:rPr>
              <a:t>LISTEN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834640"/>
            <a:ext cx="1463040" cy="5943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100" b="0" i="0">
                <a:solidFill>
                  <a:srgbClr val="F6F9FD"/>
                </a:solidFill>
                <a:latin typeface="Aptos"/>
              </a:rPr>
              <a:t>Audio is streamed and transcribed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63440" y="2926080"/>
            <a:ext cx="502920" cy="0"/>
          </a:xfrm>
          <a:prstGeom prst="line">
            <a:avLst/>
          </a:prstGeom>
          <a:ln w="21590">
            <a:solidFill>
              <a:srgbClr val="26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57800" y="2148840"/>
            <a:ext cx="1691640" cy="160020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2450592"/>
            <a:ext cx="150876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300" b="1" i="0">
                <a:solidFill>
                  <a:srgbClr val="26D2BE"/>
                </a:solidFill>
                <a:latin typeface="Aptos"/>
              </a:rPr>
              <a:t>UNDERSTAND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2834640"/>
            <a:ext cx="1463040" cy="5943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100" b="0" i="0">
                <a:solidFill>
                  <a:srgbClr val="F6F9FD"/>
                </a:solidFill>
                <a:latin typeface="Aptos"/>
              </a:rPr>
              <a:t>AI interprets request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95160" y="2926080"/>
            <a:ext cx="502920" cy="0"/>
          </a:xfrm>
          <a:prstGeom prst="line">
            <a:avLst/>
          </a:prstGeom>
          <a:ln w="21590">
            <a:solidFill>
              <a:srgbClr val="26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89520" y="2148840"/>
            <a:ext cx="1691640" cy="160020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2450592"/>
            <a:ext cx="150876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300" b="1" i="0">
                <a:solidFill>
                  <a:srgbClr val="60DCE8"/>
                </a:solidFill>
                <a:latin typeface="Aptos"/>
              </a:rPr>
              <a:t>RESPOND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2834640"/>
            <a:ext cx="1463040" cy="5943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100" b="0" i="0">
                <a:solidFill>
                  <a:srgbClr val="F6F9FD"/>
                </a:solidFill>
                <a:latin typeface="Aptos"/>
              </a:rPr>
              <a:t>Assistant speaks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0" y="2926080"/>
            <a:ext cx="502920" cy="0"/>
          </a:xfrm>
          <a:prstGeom prst="line">
            <a:avLst/>
          </a:prstGeom>
          <a:ln w="21590">
            <a:solidFill>
              <a:srgbClr val="26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921240" y="2148840"/>
            <a:ext cx="1691640" cy="160020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2450592"/>
            <a:ext cx="150876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300" b="1" i="0">
                <a:solidFill>
                  <a:srgbClr val="26D2BE"/>
                </a:solidFill>
                <a:latin typeface="Aptos"/>
              </a:rPr>
              <a:t>FOLLOW 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0967" y="2834640"/>
            <a:ext cx="1463040" cy="5943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100" b="0" i="0">
                <a:solidFill>
                  <a:srgbClr val="F6F9FD"/>
                </a:solidFill>
                <a:latin typeface="Aptos"/>
              </a:rPr>
              <a:t>Appointment or reminder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663440"/>
            <a:ext cx="10332720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500" b="0" i="0">
                <a:solidFill>
                  <a:srgbClr val="B2C1D3"/>
                </a:solidFill>
                <a:latin typeface="Aptos"/>
              </a:rPr>
              <a:t>Design principle: automate routine information and appointment steps without confirming incomplete bookings.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2600" b="1" i="0">
                <a:solidFill>
                  <a:srgbClr val="F6F9FD"/>
                </a:solidFill>
                <a:latin typeface="Aptos"/>
              </a:rPr>
              <a:t>03 |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0392"/>
            <a:ext cx="685800" cy="50292"/>
          </a:xfrm>
          <a:prstGeom prst="rect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Main components and how they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/>
            <a:r>
              <a:rPr sz="900" b="0" i="0">
                <a:solidFill>
                  <a:srgbClr val="B2C1D3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874519" cy="841248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828800"/>
            <a:ext cx="1737360" cy="24688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300" b="1" i="0">
                <a:solidFill>
                  <a:srgbClr val="26D2BE"/>
                </a:solidFill>
                <a:latin typeface="Aptos"/>
              </a:rPr>
              <a:t>Patient / Phone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157984"/>
            <a:ext cx="173736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000" b="0" i="0">
                <a:solidFill>
                  <a:srgbClr val="B2C1D3"/>
                </a:solidFill>
                <a:latin typeface="Aptos"/>
              </a:rPr>
              <a:t>Voice input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04872" y="2103120"/>
            <a:ext cx="384048" cy="0"/>
          </a:xfrm>
          <a:prstGeom prst="line">
            <a:avLst/>
          </a:prstGeom>
          <a:ln w="21590">
            <a:solidFill>
              <a:srgbClr val="26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40" y="1691640"/>
            <a:ext cx="1874519" cy="841248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1828800"/>
            <a:ext cx="1737360" cy="24688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300" b="1" i="0">
                <a:solidFill>
                  <a:srgbClr val="60DCE8"/>
                </a:solidFill>
                <a:latin typeface="Aptos"/>
              </a:rPr>
              <a:t>Twilio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2" y="2157984"/>
            <a:ext cx="173736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000" b="0" i="0">
                <a:solidFill>
                  <a:srgbClr val="B2C1D3"/>
                </a:solidFill>
                <a:latin typeface="Aptos"/>
              </a:rPr>
              <a:t>Calls + audio stream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36592" y="2103120"/>
            <a:ext cx="384048" cy="0"/>
          </a:xfrm>
          <a:prstGeom prst="line">
            <a:avLst/>
          </a:prstGeom>
          <a:ln w="21590">
            <a:solidFill>
              <a:srgbClr val="26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60" y="1691640"/>
            <a:ext cx="1874519" cy="841248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9512" y="1828800"/>
            <a:ext cx="1737360" cy="24688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300" b="1" i="0">
                <a:solidFill>
                  <a:srgbClr val="67E1A6"/>
                </a:solidFill>
                <a:latin typeface="Aptos"/>
              </a:rPr>
              <a:t>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9512" y="2157984"/>
            <a:ext cx="173736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000" b="0" i="0">
                <a:solidFill>
                  <a:srgbClr val="B2C1D3"/>
                </a:solidFill>
                <a:latin typeface="Aptos"/>
              </a:rPr>
              <a:t>Backend + endpoints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68312" y="2103120"/>
            <a:ext cx="384047" cy="0"/>
          </a:xfrm>
          <a:prstGeom prst="line">
            <a:avLst/>
          </a:prstGeom>
          <a:ln w="21590">
            <a:solidFill>
              <a:srgbClr val="26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98079" y="1691640"/>
            <a:ext cx="1874519" cy="841248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71231" y="1828800"/>
            <a:ext cx="1737360" cy="24688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300" b="1" i="0">
                <a:solidFill>
                  <a:srgbClr val="FFC466"/>
                </a:solidFill>
                <a:latin typeface="Aptos"/>
              </a:rPr>
              <a:t>Sarvam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1" y="2157984"/>
            <a:ext cx="173736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000" b="0" i="0">
                <a:solidFill>
                  <a:srgbClr val="B2C1D3"/>
                </a:solidFill>
                <a:latin typeface="Aptos"/>
              </a:rPr>
              <a:t>STT / TTS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00032" y="2103120"/>
            <a:ext cx="384048" cy="0"/>
          </a:xfrm>
          <a:prstGeom prst="line">
            <a:avLst/>
          </a:prstGeom>
          <a:ln w="21590">
            <a:solidFill>
              <a:srgbClr val="26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29800" y="1691640"/>
            <a:ext cx="1874519" cy="841248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02952" y="1828800"/>
            <a:ext cx="1737360" cy="24688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300" b="1" i="0">
                <a:solidFill>
                  <a:srgbClr val="26D2BE"/>
                </a:solidFill>
                <a:latin typeface="Aptos"/>
              </a:rPr>
              <a:t>LLM + RAG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2952" y="2157984"/>
            <a:ext cx="173736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000" b="0" i="0">
                <a:solidFill>
                  <a:srgbClr val="B2C1D3"/>
                </a:solidFill>
                <a:latin typeface="Aptos"/>
              </a:rPr>
              <a:t>Answer logic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794760"/>
            <a:ext cx="2331720" cy="91440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977639"/>
            <a:ext cx="219456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300" b="1" i="0">
                <a:solidFill>
                  <a:srgbClr val="60DCE8"/>
                </a:solidFill>
                <a:latin typeface="Aptos"/>
              </a:rPr>
              <a:t>MongoDB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297680"/>
            <a:ext cx="219456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000" b="0" i="0">
                <a:solidFill>
                  <a:srgbClr val="B2C1D3"/>
                </a:solidFill>
                <a:latin typeface="Aptos"/>
              </a:rPr>
              <a:t>Appointment records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0440" y="3794760"/>
            <a:ext cx="2331720" cy="91440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93592" y="3977639"/>
            <a:ext cx="219456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300" b="1" i="0">
                <a:solidFill>
                  <a:srgbClr val="67E1A6"/>
                </a:solidFill>
                <a:latin typeface="Aptos"/>
              </a:rPr>
              <a:t>Google Sheets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93592" y="4297680"/>
            <a:ext cx="219456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000" b="0" i="0">
                <a:solidFill>
                  <a:srgbClr val="B2C1D3"/>
                </a:solidFill>
                <a:latin typeface="Aptos"/>
              </a:rPr>
              <a:t>Optional integration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794760"/>
            <a:ext cx="2331720" cy="91440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3977639"/>
            <a:ext cx="219456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300" b="1" i="0">
                <a:solidFill>
                  <a:srgbClr val="FFC466"/>
                </a:solidFill>
                <a:latin typeface="Aptos"/>
              </a:rPr>
              <a:t>APScheduler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4297680"/>
            <a:ext cx="219456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000" b="0" i="0">
                <a:solidFill>
                  <a:srgbClr val="B2C1D3"/>
                </a:solidFill>
                <a:latin typeface="Aptos"/>
              </a:rPr>
              <a:t>Timed reminders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3794760"/>
            <a:ext cx="2331720" cy="91440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79992" y="3977639"/>
            <a:ext cx="219456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300" b="1" i="0">
                <a:solidFill>
                  <a:srgbClr val="26D2BE"/>
                </a:solidFill>
                <a:latin typeface="Aptos"/>
              </a:rPr>
              <a:t>Gemini File 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9992" y="4297680"/>
            <a:ext cx="219456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000" b="0" i="0">
                <a:solidFill>
                  <a:srgbClr val="B2C1D3"/>
                </a:solidFill>
                <a:latin typeface="Aptos"/>
              </a:rPr>
              <a:t>Knowledge retrieval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257800"/>
            <a:ext cx="10241280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100" b="0" i="0">
                <a:solidFill>
                  <a:srgbClr val="B2C1D3"/>
                </a:solidFill>
                <a:latin typeface="Aptos"/>
              </a:rPr>
              <a:t>Architecture shown is the intended design; live integrations require valid configuration and credentials.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2600" b="1" i="0">
                <a:solidFill>
                  <a:srgbClr val="F6F9FD"/>
                </a:solidFill>
                <a:latin typeface="Aptos"/>
              </a:rPr>
              <a:t>04 | Real-Time Voice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0392"/>
            <a:ext cx="685800" cy="50292"/>
          </a:xfrm>
          <a:prstGeom prst="rect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From the caller's speech to a spoken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/>
            <a:r>
              <a:rPr sz="900" b="0" i="0">
                <a:solidFill>
                  <a:srgbClr val="B2C1D3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788920" cy="1024128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2104" y="1828800"/>
            <a:ext cx="438912" cy="438912"/>
          </a:xfrm>
          <a:prstGeom prst="ellipse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883664"/>
            <a:ext cx="438912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100" b="1" i="0">
                <a:solidFill>
                  <a:srgbClr val="0C1930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746504"/>
            <a:ext cx="1874519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400" b="1" i="0">
                <a:solidFill>
                  <a:srgbClr val="F6F9FD"/>
                </a:solidFill>
                <a:latin typeface="Aptos"/>
              </a:rPr>
              <a:t>Phone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084832"/>
            <a:ext cx="1874519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000" b="0" i="0">
                <a:solidFill>
                  <a:srgbClr val="B2C1D3"/>
                </a:solidFill>
                <a:latin typeface="Aptos"/>
              </a:rPr>
              <a:t>Twilio receives 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600200"/>
            <a:ext cx="2788920" cy="1024128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98264" y="1828800"/>
            <a:ext cx="438912" cy="438912"/>
          </a:xfrm>
          <a:prstGeom prst="ellipse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1883664"/>
            <a:ext cx="438912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100" b="1" i="0">
                <a:solidFill>
                  <a:srgbClr val="0C1930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5192" y="1746504"/>
            <a:ext cx="1874519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400" b="1" i="0">
                <a:solidFill>
                  <a:srgbClr val="F6F9FD"/>
                </a:solidFill>
                <a:latin typeface="Aptos"/>
              </a:rPr>
              <a:t>WebSocket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5192" y="2084832"/>
            <a:ext cx="1874519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000" b="0" i="0">
                <a:solidFill>
                  <a:srgbClr val="B2C1D3"/>
                </a:solidFill>
                <a:latin typeface="Aptos"/>
              </a:rPr>
              <a:t>Streams audio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600200"/>
            <a:ext cx="2788920" cy="1024128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64424" y="1828800"/>
            <a:ext cx="438912" cy="438912"/>
          </a:xfrm>
          <a:prstGeom prst="ellipse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4" y="1883664"/>
            <a:ext cx="438912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100" b="1" i="0">
                <a:solidFill>
                  <a:srgbClr val="0C1930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1746504"/>
            <a:ext cx="1874519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400" b="1" i="0">
                <a:solidFill>
                  <a:srgbClr val="F6F9FD"/>
                </a:solidFill>
                <a:latin typeface="Aptos"/>
              </a:rPr>
              <a:t>STT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2084832"/>
            <a:ext cx="1874519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000" b="0" i="0">
                <a:solidFill>
                  <a:srgbClr val="B2C1D3"/>
                </a:solidFill>
                <a:latin typeface="Aptos"/>
              </a:rPr>
              <a:t>Sarvam speech-to-text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3749039"/>
            <a:ext cx="2788920" cy="1024128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64424" y="3977639"/>
            <a:ext cx="438912" cy="438912"/>
          </a:xfrm>
          <a:prstGeom prst="ellipse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64424" y="4032503"/>
            <a:ext cx="438912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100" b="1" i="0">
                <a:solidFill>
                  <a:srgbClr val="0C1930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1352" y="3895344"/>
            <a:ext cx="1874519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400" b="1" i="0">
                <a:solidFill>
                  <a:srgbClr val="F6F9FD"/>
                </a:solidFill>
                <a:latin typeface="Aptos"/>
              </a:rPr>
              <a:t>AI + 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1352" y="4233672"/>
            <a:ext cx="1874519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000" b="0" i="0">
                <a:solidFill>
                  <a:srgbClr val="B2C1D3"/>
                </a:solidFill>
                <a:latin typeface="Aptos"/>
              </a:rPr>
              <a:t>Retrieve relevant context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3749039"/>
            <a:ext cx="2788920" cy="1024128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98264" y="3977639"/>
            <a:ext cx="438912" cy="438912"/>
          </a:xfrm>
          <a:prstGeom prst="ellipse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8264" y="4032503"/>
            <a:ext cx="438912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100" b="1" i="0">
                <a:solidFill>
                  <a:srgbClr val="0C1930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5192" y="3895344"/>
            <a:ext cx="1874519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400" b="1" i="0">
                <a:solidFill>
                  <a:srgbClr val="F6F9FD"/>
                </a:solidFill>
                <a:latin typeface="Aptos"/>
              </a:rPr>
              <a:t>TTS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5192" y="4233672"/>
            <a:ext cx="1874519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000" b="0" i="0">
                <a:solidFill>
                  <a:srgbClr val="B2C1D3"/>
                </a:solidFill>
                <a:latin typeface="Aptos"/>
              </a:rPr>
              <a:t>Sarvam creates audio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3749039"/>
            <a:ext cx="2788920" cy="1024128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" y="3977639"/>
            <a:ext cx="438912" cy="438912"/>
          </a:xfrm>
          <a:prstGeom prst="ellipse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" y="4032503"/>
            <a:ext cx="438912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100" b="1" i="0">
                <a:solidFill>
                  <a:srgbClr val="0C1930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99032" y="3895344"/>
            <a:ext cx="1874519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400" b="1" i="0">
                <a:solidFill>
                  <a:srgbClr val="F6F9FD"/>
                </a:solidFill>
                <a:latin typeface="Aptos"/>
              </a:rPr>
              <a:t>Voice reply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" y="4233672"/>
            <a:ext cx="1874519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000" b="0" i="0">
                <a:solidFill>
                  <a:srgbClr val="B2C1D3"/>
                </a:solidFill>
                <a:latin typeface="Aptos"/>
              </a:rPr>
              <a:t>Twilio plays response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520440" y="2103120"/>
            <a:ext cx="640080" cy="0"/>
          </a:xfrm>
          <a:prstGeom prst="line">
            <a:avLst/>
          </a:prstGeom>
          <a:ln w="21590">
            <a:solidFill>
              <a:srgbClr val="26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086600" y="2103120"/>
            <a:ext cx="640079" cy="0"/>
          </a:xfrm>
          <a:prstGeom prst="line">
            <a:avLst/>
          </a:prstGeom>
          <a:ln w="21590">
            <a:solidFill>
              <a:srgbClr val="26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144000" y="2697480"/>
            <a:ext cx="0" cy="960120"/>
          </a:xfrm>
          <a:prstGeom prst="line">
            <a:avLst/>
          </a:prstGeom>
          <a:ln w="21590">
            <a:solidFill>
              <a:srgbClr val="26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7132320" y="4251960"/>
            <a:ext cx="594359" cy="0"/>
          </a:xfrm>
          <a:prstGeom prst="line">
            <a:avLst/>
          </a:prstGeom>
          <a:ln w="21590">
            <a:solidFill>
              <a:srgbClr val="26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3566160" y="4251960"/>
            <a:ext cx="594360" cy="0"/>
          </a:xfrm>
          <a:prstGeom prst="line">
            <a:avLst/>
          </a:prstGeom>
          <a:ln w="21590">
            <a:solidFill>
              <a:srgbClr val="26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057400" y="2697480"/>
            <a:ext cx="0" cy="960120"/>
          </a:xfrm>
          <a:prstGeom prst="line">
            <a:avLst/>
          </a:prstGeom>
          <a:ln w="21590">
            <a:solidFill>
              <a:srgbClr val="26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2600" b="1" i="0">
                <a:solidFill>
                  <a:srgbClr val="F6F9FD"/>
                </a:solidFill>
                <a:latin typeface="Aptos"/>
              </a:rPr>
              <a:t>05 | Key Technologies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0392"/>
            <a:ext cx="685800" cy="50292"/>
          </a:xfrm>
          <a:prstGeom prst="rect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What each technology contributes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/>
            <a:r>
              <a:rPr sz="900" b="0" i="0">
                <a:solidFill>
                  <a:srgbClr val="B2C1D3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12080" cy="932688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9436" cy="932688"/>
          </a:xfrm>
          <a:prstGeom prst="rect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48920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400" b="1" i="0">
                <a:solidFill>
                  <a:srgbClr val="F6F9FD"/>
                </a:solidFill>
                <a:latin typeface="Aptos"/>
              </a:rPr>
              <a:t>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38528"/>
            <a:ext cx="48920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Python backend and HTTP endpoints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12080" cy="932688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59436" cy="932688"/>
          </a:xfrm>
          <a:prstGeom prst="rect">
            <a:avLst/>
          </a:prstGeom>
          <a:solidFill>
            <a:srgbClr val="60DCE8"/>
          </a:solidFill>
          <a:ln>
            <a:solidFill>
              <a:srgbClr val="6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48920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400" b="1" i="0">
                <a:solidFill>
                  <a:srgbClr val="F6F9FD"/>
                </a:solidFill>
                <a:latin typeface="Aptos"/>
              </a:rPr>
              <a:t>Twilio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38528"/>
            <a:ext cx="48920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Phone calls, Media Streams, outbound calls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532888"/>
            <a:ext cx="5212080" cy="932688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532888"/>
            <a:ext cx="59436" cy="932688"/>
          </a:xfrm>
          <a:prstGeom prst="rect">
            <a:avLst/>
          </a:prstGeom>
          <a:solidFill>
            <a:srgbClr val="67E1A6"/>
          </a:solidFill>
          <a:ln>
            <a:solidFill>
              <a:srgbClr val="67E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670048"/>
            <a:ext cx="48920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400" b="1" i="0">
                <a:solidFill>
                  <a:srgbClr val="F6F9FD"/>
                </a:solidFill>
                <a:latin typeface="Aptos"/>
              </a:rPr>
              <a:t>WebSockets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054096"/>
            <a:ext cx="48920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Persistent two-way real-time communication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532888"/>
            <a:ext cx="5212080" cy="932688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532888"/>
            <a:ext cx="59436" cy="932688"/>
          </a:xfrm>
          <a:prstGeom prst="rect">
            <a:avLst/>
          </a:prstGeom>
          <a:solidFill>
            <a:srgbClr val="FFC466"/>
          </a:solidFill>
          <a:ln>
            <a:solidFill>
              <a:srgbClr val="FFC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670048"/>
            <a:ext cx="48920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400" b="1" i="0">
                <a:solidFill>
                  <a:srgbClr val="F6F9FD"/>
                </a:solidFill>
                <a:latin typeface="Aptos"/>
              </a:rPr>
              <a:t>Sarvam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54096"/>
            <a:ext cx="48920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Speech recognition and speech generation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648456"/>
            <a:ext cx="5212080" cy="932688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648456"/>
            <a:ext cx="59436" cy="932688"/>
          </a:xfrm>
          <a:prstGeom prst="rect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785616"/>
            <a:ext cx="48920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400" b="1" i="0">
                <a:solidFill>
                  <a:srgbClr val="F6F9FD"/>
                </a:solidFill>
                <a:latin typeface="Aptos"/>
              </a:rPr>
              <a:t>Gemini File Search + 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169664"/>
            <a:ext cx="48920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Retrieves relevant hospital document context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648456"/>
            <a:ext cx="5212080" cy="932688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648456"/>
            <a:ext cx="59436" cy="932688"/>
          </a:xfrm>
          <a:prstGeom prst="rect">
            <a:avLst/>
          </a:prstGeom>
          <a:solidFill>
            <a:srgbClr val="60DCE8"/>
          </a:solidFill>
          <a:ln>
            <a:solidFill>
              <a:srgbClr val="6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785616"/>
            <a:ext cx="48920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400" b="1" i="0">
                <a:solidFill>
                  <a:srgbClr val="F6F9FD"/>
                </a:solidFill>
                <a:latin typeface="Aptos"/>
              </a:rPr>
              <a:t>MongoDB / Motor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169664"/>
            <a:ext cx="48920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Appointment-related record storage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764024"/>
            <a:ext cx="5212080" cy="932688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4764024"/>
            <a:ext cx="59436" cy="932688"/>
          </a:xfrm>
          <a:prstGeom prst="rect">
            <a:avLst/>
          </a:prstGeom>
          <a:solidFill>
            <a:srgbClr val="67E1A6"/>
          </a:solidFill>
          <a:ln>
            <a:solidFill>
              <a:srgbClr val="67E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01184"/>
            <a:ext cx="48920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400" b="1" i="0">
                <a:solidFill>
                  <a:srgbClr val="F6F9FD"/>
                </a:solidFill>
                <a:latin typeface="Aptos"/>
              </a:rPr>
              <a:t>APScheduler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285232"/>
            <a:ext cx="48920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Schedules time-based tasks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764024"/>
            <a:ext cx="5212080" cy="932688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764024"/>
            <a:ext cx="59436" cy="932688"/>
          </a:xfrm>
          <a:prstGeom prst="rect">
            <a:avLst/>
          </a:prstGeom>
          <a:solidFill>
            <a:srgbClr val="FFC466"/>
          </a:solidFill>
          <a:ln>
            <a:solidFill>
              <a:srgbClr val="FFC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901184"/>
            <a:ext cx="48920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400" b="1" i="0">
                <a:solidFill>
                  <a:srgbClr val="F6F9FD"/>
                </a:solidFill>
                <a:latin typeface="Aptos"/>
              </a:rPr>
              <a:t>Google Sheets webhook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285232"/>
            <a:ext cx="48920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Optional secondary data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2600" b="1" i="0">
                <a:solidFill>
                  <a:srgbClr val="F6F9FD"/>
                </a:solidFill>
                <a:latin typeface="Aptos"/>
              </a:rPr>
              <a:t>06 | Knowledge Retrieval (RAG)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0392"/>
            <a:ext cx="685800" cy="50292"/>
          </a:xfrm>
          <a:prstGeom prst="rect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How the assistant can answer hospital-specific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/>
            <a:r>
              <a:rPr sz="900" b="0" i="0">
                <a:solidFill>
                  <a:srgbClr val="B2C1D3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2514600" cy="128016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59436" cy="1280160"/>
          </a:xfrm>
          <a:prstGeom prst="rect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21945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400" b="1" i="0">
                <a:solidFill>
                  <a:srgbClr val="F6F9FD"/>
                </a:solidFill>
                <a:latin typeface="Aptos"/>
              </a:rPr>
              <a:t>1. Caller 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58568"/>
            <a:ext cx="2194560" cy="65836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Example: consultation timings?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46120" y="2377440"/>
            <a:ext cx="256032" cy="0"/>
          </a:xfrm>
          <a:prstGeom prst="line">
            <a:avLst/>
          </a:prstGeom>
          <a:ln w="21590">
            <a:solidFill>
              <a:srgbClr val="26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66160" y="1737360"/>
            <a:ext cx="2514600" cy="128016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737360"/>
            <a:ext cx="59436" cy="1280160"/>
          </a:xfrm>
          <a:prstGeom prst="rect">
            <a:avLst/>
          </a:prstGeom>
          <a:solidFill>
            <a:srgbClr val="60DCE8"/>
          </a:solidFill>
          <a:ln>
            <a:solidFill>
              <a:srgbClr val="6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1874519"/>
            <a:ext cx="21945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400" b="1" i="0">
                <a:solidFill>
                  <a:srgbClr val="F6F9FD"/>
                </a:solidFill>
                <a:latin typeface="Aptos"/>
              </a:rPr>
              <a:t>2. Retrieve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258568"/>
            <a:ext cx="2194560" cy="65836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Search FAQ or schedule documents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79" y="2377440"/>
            <a:ext cx="256033" cy="0"/>
          </a:xfrm>
          <a:prstGeom prst="line">
            <a:avLst/>
          </a:prstGeom>
          <a:ln w="21590">
            <a:solidFill>
              <a:srgbClr val="26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46520" y="1737360"/>
            <a:ext cx="2514600" cy="128016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1737360"/>
            <a:ext cx="59436" cy="1280160"/>
          </a:xfrm>
          <a:prstGeom prst="rect">
            <a:avLst/>
          </a:prstGeom>
          <a:solidFill>
            <a:srgbClr val="67E1A6"/>
          </a:solidFill>
          <a:ln>
            <a:solidFill>
              <a:srgbClr val="67E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874519"/>
            <a:ext cx="21945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400" b="1" i="0">
                <a:solidFill>
                  <a:srgbClr val="F6F9FD"/>
                </a:solidFill>
                <a:latin typeface="Aptos"/>
              </a:rPr>
              <a:t>3. Generate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258568"/>
            <a:ext cx="2194560" cy="65836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LLM responds using context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06840" y="2377440"/>
            <a:ext cx="256032" cy="0"/>
          </a:xfrm>
          <a:prstGeom prst="line">
            <a:avLst/>
          </a:prstGeom>
          <a:ln w="21590">
            <a:solidFill>
              <a:srgbClr val="26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326880" y="1737360"/>
            <a:ext cx="2514600" cy="128016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26880" y="1737360"/>
            <a:ext cx="59436" cy="1280160"/>
          </a:xfrm>
          <a:prstGeom prst="rect">
            <a:avLst/>
          </a:prstGeom>
          <a:solidFill>
            <a:srgbClr val="FFC466"/>
          </a:solidFill>
          <a:ln>
            <a:solidFill>
              <a:srgbClr val="FFC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59" y="1874519"/>
            <a:ext cx="21945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400" b="1" i="0">
                <a:solidFill>
                  <a:srgbClr val="F6F9FD"/>
                </a:solidFill>
                <a:latin typeface="Aptos"/>
              </a:rPr>
              <a:t>4. Speak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59" y="2258568"/>
            <a:ext cx="2194560" cy="65836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TTS converts text to voice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794760"/>
            <a:ext cx="10515600" cy="960120"/>
          </a:xfrm>
          <a:prstGeom prst="roundRect">
            <a:avLst/>
          </a:prstGeom>
          <a:solidFill>
            <a:srgbClr val="223E5B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02336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400" b="1" i="0">
                <a:solidFill>
                  <a:srgbClr val="26D2BE"/>
                </a:solidFill>
                <a:latin typeface="Aptos"/>
              </a:rPr>
              <a:t>KNOWLEDGE 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3977639"/>
            <a:ext cx="7863840" cy="3840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500" b="0" i="0">
                <a:solidFill>
                  <a:srgbClr val="F6F9FD"/>
                </a:solidFill>
                <a:latin typeface="Aptos"/>
              </a:rPr>
              <a:t>Sample FAQs • Consultation fees • Doctor schedules • Hospital timings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100" b="0" i="0">
                <a:solidFill>
                  <a:srgbClr val="B2C1D3"/>
                </a:solidFill>
                <a:latin typeface="Aptos"/>
              </a:rPr>
              <a:t>RAG grounds responses in supplied documents but cannot guarantee every answer is correct or up to date.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2600" b="1" i="0">
                <a:solidFill>
                  <a:srgbClr val="F6F9FD"/>
                </a:solidFill>
                <a:latin typeface="Aptos"/>
              </a:rPr>
              <a:t>07 | Appointment Workflow &amp; Safety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0392"/>
            <a:ext cx="685800" cy="50292"/>
          </a:xfrm>
          <a:prstGeom prst="rect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Validate details before treating a request as confirmed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/>
            <a:r>
              <a:rPr sz="900" b="0" i="0">
                <a:solidFill>
                  <a:srgbClr val="B2C1D3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417320"/>
            <a:ext cx="1828800" cy="594360"/>
          </a:xfrm>
          <a:prstGeom prst="roundRect">
            <a:avLst/>
          </a:prstGeom>
          <a:solidFill>
            <a:srgbClr val="223E5B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63624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300" b="1" i="0">
                <a:solidFill>
                  <a:srgbClr val="26D2BE"/>
                </a:solidFill>
                <a:latin typeface="Aptos"/>
              </a:rPr>
              <a:t>CAPTURE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88920" y="1709928"/>
            <a:ext cx="548640" cy="0"/>
          </a:xfrm>
          <a:prstGeom prst="line">
            <a:avLst/>
          </a:prstGeom>
          <a:ln w="21590">
            <a:solidFill>
              <a:srgbClr val="26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74720" y="1417320"/>
            <a:ext cx="7589520" cy="59436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563624"/>
            <a:ext cx="713232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200" b="0" i="0">
                <a:solidFill>
                  <a:srgbClr val="F6F9FD"/>
                </a:solidFill>
                <a:latin typeface="Aptos"/>
              </a:rPr>
              <a:t>Patient name, doctor / specialty, date and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276856"/>
            <a:ext cx="1828800" cy="594360"/>
          </a:xfrm>
          <a:prstGeom prst="roundRect">
            <a:avLst/>
          </a:prstGeom>
          <a:solidFill>
            <a:srgbClr val="223E5B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423160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300" b="1" i="0">
                <a:solidFill>
                  <a:srgbClr val="26D2BE"/>
                </a:solidFill>
                <a:latin typeface="Aptos"/>
              </a:rPr>
              <a:t>VALIDATE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88920" y="2569464"/>
            <a:ext cx="548640" cy="0"/>
          </a:xfrm>
          <a:prstGeom prst="line">
            <a:avLst/>
          </a:prstGeom>
          <a:ln w="21590">
            <a:solidFill>
              <a:srgbClr val="26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74720" y="2276856"/>
            <a:ext cx="7589520" cy="59436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2423160"/>
            <a:ext cx="713232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200" b="0" i="0">
                <a:solidFill>
                  <a:srgbClr val="F6F9FD"/>
                </a:solidFill>
                <a:latin typeface="Aptos"/>
              </a:rPr>
              <a:t>Check required fields and date/time format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136391"/>
            <a:ext cx="1828800" cy="594360"/>
          </a:xfrm>
          <a:prstGeom prst="roundRect">
            <a:avLst/>
          </a:prstGeom>
          <a:solidFill>
            <a:srgbClr val="223E5B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282696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300" b="1" i="0">
                <a:solidFill>
                  <a:srgbClr val="26D2BE"/>
                </a:solidFill>
                <a:latin typeface="Aptos"/>
              </a:rPr>
              <a:t>DECIDE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88920" y="3428999"/>
            <a:ext cx="548640" cy="0"/>
          </a:xfrm>
          <a:prstGeom prst="line">
            <a:avLst/>
          </a:prstGeom>
          <a:ln w="21590">
            <a:solidFill>
              <a:srgbClr val="26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474720" y="3136391"/>
            <a:ext cx="7589520" cy="59436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3282696"/>
            <a:ext cx="713232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200" b="0" i="0">
                <a:solidFill>
                  <a:srgbClr val="F6F9FD"/>
                </a:solidFill>
                <a:latin typeface="Aptos"/>
              </a:rPr>
              <a:t>Ask follow-up questions if details are missing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995928"/>
            <a:ext cx="1828800" cy="594360"/>
          </a:xfrm>
          <a:prstGeom prst="roundRect">
            <a:avLst/>
          </a:prstGeom>
          <a:solidFill>
            <a:srgbClr val="223E5B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42232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300" b="1" i="0">
                <a:solidFill>
                  <a:srgbClr val="26D2BE"/>
                </a:solidFill>
                <a:latin typeface="Aptos"/>
              </a:rPr>
              <a:t>SAVE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88920" y="4288536"/>
            <a:ext cx="548640" cy="0"/>
          </a:xfrm>
          <a:prstGeom prst="line">
            <a:avLst/>
          </a:prstGeom>
          <a:ln w="21590">
            <a:solidFill>
              <a:srgbClr val="26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474720" y="3995928"/>
            <a:ext cx="7589520" cy="59436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4142232"/>
            <a:ext cx="713232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200" b="0" i="0">
                <a:solidFill>
                  <a:srgbClr val="F6F9FD"/>
                </a:solidFill>
                <a:latin typeface="Aptos"/>
              </a:rPr>
              <a:t>Store valid details in configured systems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855464"/>
            <a:ext cx="1828800" cy="594360"/>
          </a:xfrm>
          <a:prstGeom prst="roundRect">
            <a:avLst/>
          </a:prstGeom>
          <a:solidFill>
            <a:srgbClr val="223E5B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001768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300" b="1" i="0">
                <a:solidFill>
                  <a:srgbClr val="26D2BE"/>
                </a:solidFill>
                <a:latin typeface="Aptos"/>
              </a:rPr>
              <a:t>REMIND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788920" y="5148072"/>
            <a:ext cx="548640" cy="0"/>
          </a:xfrm>
          <a:prstGeom prst="line">
            <a:avLst/>
          </a:prstGeom>
          <a:ln w="21590">
            <a:solidFill>
              <a:srgbClr val="26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474720" y="4855464"/>
            <a:ext cx="7589520" cy="59436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03320" y="5001768"/>
            <a:ext cx="713232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200" b="0" i="0">
                <a:solidFill>
                  <a:srgbClr val="F6F9FD"/>
                </a:solidFill>
                <a:latin typeface="Aptos"/>
              </a:rPr>
              <a:t>Schedule a reminder when enabled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806440"/>
            <a:ext cx="10149840" cy="384048"/>
          </a:xfrm>
          <a:prstGeom prst="roundRect">
            <a:avLst/>
          </a:prstGeom>
          <a:solidFill>
            <a:srgbClr val="3D3125"/>
          </a:solidFill>
          <a:ln>
            <a:solidFill>
              <a:srgbClr val="3D31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879592"/>
            <a:ext cx="9875520" cy="20116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100" b="1" i="0">
                <a:solidFill>
                  <a:srgbClr val="FFC466"/>
                </a:solidFill>
                <a:latin typeface="Aptos"/>
              </a:rPr>
              <a:t>Safety rule: do not confirm an appointment when required information is incomplete.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2600" b="1" i="0">
                <a:solidFill>
                  <a:srgbClr val="F6F9FD"/>
                </a:solidFill>
                <a:latin typeface="Aptos"/>
              </a:rPr>
              <a:t>08 | Outbound Calls &amp; Reminders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0392"/>
            <a:ext cx="685800" cy="50292"/>
          </a:xfrm>
          <a:prstGeom prst="rect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A scheduled task can trigger a call to the patient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/>
            <a:r>
              <a:rPr sz="900" b="0" i="0">
                <a:solidFill>
                  <a:srgbClr val="B2C1D3"/>
                </a:solidFill>
                <a:latin typeface="Aptos"/>
              </a:rP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25880" y="2743200"/>
            <a:ext cx="9601200" cy="0"/>
          </a:xfrm>
          <a:prstGeom prst="line">
            <a:avLst/>
          </a:prstGeom>
          <a:ln w="25400">
            <a:solidFill>
              <a:srgbClr val="26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417320" y="2523744"/>
            <a:ext cx="438912" cy="438912"/>
          </a:xfrm>
          <a:prstGeom prst="ellipse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2011680" cy="29260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400" b="1" i="0">
                <a:solidFill>
                  <a:srgbClr val="F6F9FD"/>
                </a:solidFill>
                <a:latin typeface="Aptos"/>
              </a:rPr>
              <a:t>Appointment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38528"/>
            <a:ext cx="2011680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100" b="1" i="0">
                <a:solidFill>
                  <a:srgbClr val="60DCE8"/>
                </a:solidFill>
                <a:latin typeface="Aptos"/>
              </a:rPr>
              <a:t>4:00 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2011680" cy="6400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000" b="0" i="0">
                <a:solidFill>
                  <a:srgbClr val="B2C1D3"/>
                </a:solidFill>
                <a:latin typeface="Aptos"/>
              </a:rPr>
              <a:t>Booking details stored</a:t>
            </a:r>
          </a:p>
        </p:txBody>
      </p:sp>
      <p:sp>
        <p:nvSpPr>
          <p:cNvPr id="11" name="Oval 10"/>
          <p:cNvSpPr/>
          <p:nvPr/>
        </p:nvSpPr>
        <p:spPr>
          <a:xfrm>
            <a:off x="3931920" y="2523744"/>
            <a:ext cx="438912" cy="438912"/>
          </a:xfrm>
          <a:prstGeom prst="ellipse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508760"/>
            <a:ext cx="2011680" cy="29260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400" b="1" i="0">
                <a:solidFill>
                  <a:srgbClr val="F6F9FD"/>
                </a:solidFill>
                <a:latin typeface="Aptos"/>
              </a:rPr>
              <a:t>APScheduler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938528"/>
            <a:ext cx="2011680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100" b="1" i="0">
                <a:solidFill>
                  <a:srgbClr val="60DCE8"/>
                </a:solidFill>
                <a:latin typeface="Aptos"/>
              </a:rPr>
              <a:t>3:00 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154680"/>
            <a:ext cx="2011680" cy="6400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000" b="0" i="0">
                <a:solidFill>
                  <a:srgbClr val="B2C1D3"/>
                </a:solidFill>
                <a:latin typeface="Aptos"/>
              </a:rPr>
              <a:t>Reminder task is due</a:t>
            </a:r>
          </a:p>
        </p:txBody>
      </p:sp>
      <p:sp>
        <p:nvSpPr>
          <p:cNvPr id="15" name="Oval 14"/>
          <p:cNvSpPr/>
          <p:nvPr/>
        </p:nvSpPr>
        <p:spPr>
          <a:xfrm>
            <a:off x="6446520" y="2523744"/>
            <a:ext cx="438912" cy="438912"/>
          </a:xfrm>
          <a:prstGeom prst="ellipse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508760"/>
            <a:ext cx="2011680" cy="29260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400" b="1" i="0">
                <a:solidFill>
                  <a:srgbClr val="F6F9FD"/>
                </a:solidFill>
                <a:latin typeface="Aptos"/>
              </a:rPr>
              <a:t>Twilio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938528"/>
            <a:ext cx="2011680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100" b="1" i="0">
                <a:solidFill>
                  <a:srgbClr val="60DCE8"/>
                </a:solidFill>
                <a:latin typeface="Aptos"/>
              </a:rPr>
              <a:t>3:00 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154680"/>
            <a:ext cx="2011680" cy="6400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000" b="0" i="0">
                <a:solidFill>
                  <a:srgbClr val="B2C1D3"/>
                </a:solidFill>
                <a:latin typeface="Aptos"/>
              </a:rPr>
              <a:t>Requests outbound call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0" y="2523744"/>
            <a:ext cx="438912" cy="438912"/>
          </a:xfrm>
          <a:prstGeom prst="ellipse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1508760"/>
            <a:ext cx="2011680" cy="29260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400" b="1" i="0">
                <a:solidFill>
                  <a:srgbClr val="F6F9FD"/>
                </a:solidFill>
                <a:latin typeface="Aptos"/>
              </a:rPr>
              <a:t>Patient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1938528"/>
            <a:ext cx="2011680" cy="2286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100" b="1" i="0">
                <a:solidFill>
                  <a:srgbClr val="60DCE8"/>
                </a:solidFill>
                <a:latin typeface="Aptos"/>
              </a:rPr>
              <a:t>After connection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154680"/>
            <a:ext cx="2011680" cy="6400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000" b="0" i="0">
                <a:solidFill>
                  <a:srgbClr val="B2C1D3"/>
                </a:solidFill>
                <a:latin typeface="Aptos"/>
              </a:rPr>
              <a:t>Hears reminder / keypad input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572000"/>
            <a:ext cx="10241280" cy="77724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4782312"/>
            <a:ext cx="978408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300" b="1" i="0">
                <a:solidFill>
                  <a:srgbClr val="F6F9FD"/>
                </a:solidFill>
                <a:latin typeface="Aptos"/>
              </a:rPr>
              <a:t>DTMF = keypad tones (e.g., press 1 to confirm or 2 to cancel, if configured).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669280"/>
            <a:ext cx="1024128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000" b="0" i="0">
                <a:solidFill>
                  <a:srgbClr val="B2C1D3"/>
                </a:solidFill>
                <a:latin typeface="Aptos"/>
              </a:rPr>
              <a:t>Actual call and reminder behavior depends on configuration, credentials, and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2600" b="1" i="0">
                <a:solidFill>
                  <a:srgbClr val="F6F9FD"/>
                </a:solidFill>
                <a:latin typeface="Aptos"/>
              </a:rPr>
              <a:t>09 | Data &amp; Integrations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0392"/>
            <a:ext cx="685800" cy="50292"/>
          </a:xfrm>
          <a:prstGeom prst="rect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Where information may be stored or 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/>
            <a:r>
              <a:rPr sz="900" b="0" i="0">
                <a:solidFill>
                  <a:srgbClr val="B2C1D3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83280" cy="150876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9436" cy="1508760"/>
          </a:xfrm>
          <a:prstGeom prst="rect">
            <a:avLst/>
          </a:prstGeom>
          <a:solidFill>
            <a:srgbClr val="60DCE8"/>
          </a:solidFill>
          <a:ln>
            <a:solidFill>
              <a:srgbClr val="6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0632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600" b="1" i="0">
                <a:solidFill>
                  <a:srgbClr val="F6F9FD"/>
                </a:solidFill>
                <a:latin typeface="Aptos"/>
              </a:rPr>
              <a:t>MongoDB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3063240" cy="88696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200" b="0" i="0">
                <a:solidFill>
                  <a:srgbClr val="B2C1D3"/>
                </a:solidFill>
                <a:latin typeface="Aptos"/>
              </a:rPr>
              <a:t>Persistent storage for appointment-related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600200"/>
            <a:ext cx="3383280" cy="150876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600200"/>
            <a:ext cx="59436" cy="1508760"/>
          </a:xfrm>
          <a:prstGeom prst="rect">
            <a:avLst/>
          </a:prstGeom>
          <a:solidFill>
            <a:srgbClr val="67E1A6"/>
          </a:solidFill>
          <a:ln>
            <a:solidFill>
              <a:srgbClr val="67E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737360"/>
            <a:ext cx="30632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600" b="1" i="0">
                <a:solidFill>
                  <a:srgbClr val="F6F9FD"/>
                </a:solidFill>
                <a:latin typeface="Aptos"/>
              </a:rPr>
              <a:t>Google Sheets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121408"/>
            <a:ext cx="3063240" cy="88696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200" b="0" i="0">
                <a:solidFill>
                  <a:srgbClr val="B2C1D3"/>
                </a:solidFill>
                <a:latin typeface="Aptos"/>
              </a:rPr>
              <a:t>Optional webhook integration for secondary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600200"/>
            <a:ext cx="3383280" cy="150876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600200"/>
            <a:ext cx="59436" cy="1508760"/>
          </a:xfrm>
          <a:prstGeom prst="rect">
            <a:avLst/>
          </a:prstGeom>
          <a:solidFill>
            <a:srgbClr val="FFC466"/>
          </a:solidFill>
          <a:ln>
            <a:solidFill>
              <a:srgbClr val="FFC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5" y="1737360"/>
            <a:ext cx="30632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600" b="1" i="0">
                <a:solidFill>
                  <a:srgbClr val="F6F9FD"/>
                </a:solidFill>
                <a:latin typeface="Aptos"/>
              </a:rPr>
              <a:t>Hospital documents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121408"/>
            <a:ext cx="3063240" cy="88696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200" b="0" i="0">
                <a:solidFill>
                  <a:srgbClr val="B2C1D3"/>
                </a:solidFill>
                <a:latin typeface="Aptos"/>
              </a:rPr>
              <a:t>FAQ, pricing, and doctor schedules for retrieval.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794760"/>
            <a:ext cx="10561320" cy="1143000"/>
          </a:xfrm>
          <a:prstGeom prst="roundRect">
            <a:avLst/>
          </a:prstGeom>
          <a:solidFill>
            <a:srgbClr val="223E5B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041648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400" b="1" i="0">
                <a:solidFill>
                  <a:srgbClr val="26D2BE"/>
                </a:solidFill>
                <a:latin typeface="Aptos"/>
              </a:rPr>
              <a:t>CONFIGURATION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977639"/>
            <a:ext cx="8046720" cy="5943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300" b="0" i="0">
                <a:solidFill>
                  <a:srgbClr val="F6F9FD"/>
                </a:solidFill>
                <a:latin typeface="Aptos"/>
              </a:rPr>
              <a:t>Keep API keys, database URLs, webhook URLs, and phone numbers in environment variables — never commit secrets to GitHub.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49240"/>
            <a:ext cx="1024128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100" b="0" i="0">
                <a:solidFill>
                  <a:srgbClr val="B2C1D3"/>
                </a:solidFill>
                <a:latin typeface="Aptos"/>
              </a:rPr>
              <a:t>Use test data for demos and avoid collecting unnecessary patient information.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2600" b="1" i="0">
                <a:solidFill>
                  <a:srgbClr val="F6F9FD"/>
                </a:solidFill>
                <a:latin typeface="Aptos"/>
              </a:rPr>
              <a:t>10 | Testing &amp; Reliability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0392"/>
            <a:ext cx="685800" cy="50292"/>
          </a:xfrm>
          <a:prstGeom prst="rect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Local automated checks documented for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/>
            <a:r>
              <a:rPr sz="900" b="0" i="0">
                <a:solidFill>
                  <a:srgbClr val="B2C1D3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651760" cy="329184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2194560" cy="5943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3400" b="1" i="0">
                <a:solidFill>
                  <a:srgbClr val="26D2BE"/>
                </a:solidFill>
                <a:latin typeface="Apto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2194560" cy="5486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700" b="1" i="0">
                <a:solidFill>
                  <a:srgbClr val="F6F9FD"/>
                </a:solidFill>
                <a:latin typeface="Aptos"/>
              </a:rPr>
              <a:t>automated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337560"/>
            <a:ext cx="2148840" cy="9144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200" b="0" i="0">
                <a:solidFill>
                  <a:srgbClr val="B2C1D3"/>
                </a:solidFill>
                <a:latin typeface="Aptos"/>
              </a:rPr>
              <a:t>Reported to run offline without external API credentials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554480"/>
            <a:ext cx="3474720" cy="1298448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03320" y="1554480"/>
            <a:ext cx="59436" cy="1298448"/>
          </a:xfrm>
          <a:prstGeom prst="rect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1691639"/>
            <a:ext cx="3154679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400" b="1" i="0">
                <a:solidFill>
                  <a:srgbClr val="F6F9FD"/>
                </a:solidFill>
                <a:latin typeface="Aptos"/>
              </a:rPr>
              <a:t>API endpoint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075688"/>
            <a:ext cx="3154679" cy="676655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Root, health, scheduler status, and payload validation.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1554480"/>
            <a:ext cx="3474720" cy="1298448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1554480"/>
            <a:ext cx="59436" cy="1298448"/>
          </a:xfrm>
          <a:prstGeom prst="rect">
            <a:avLst/>
          </a:prstGeom>
          <a:solidFill>
            <a:srgbClr val="60DCE8"/>
          </a:solidFill>
          <a:ln>
            <a:solidFill>
              <a:srgbClr val="6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1691639"/>
            <a:ext cx="3154679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400" b="1" i="0">
                <a:solidFill>
                  <a:srgbClr val="F6F9FD"/>
                </a:solidFill>
                <a:latin typeface="Aptos"/>
              </a:rPr>
              <a:t>Appointment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075688"/>
            <a:ext cx="3154679" cy="676655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Required fields and incomplete-booking safeguards.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3108960"/>
            <a:ext cx="3474720" cy="1298448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03320" y="3108960"/>
            <a:ext cx="59436" cy="1298448"/>
          </a:xfrm>
          <a:prstGeom prst="rect">
            <a:avLst/>
          </a:prstGeom>
          <a:solidFill>
            <a:srgbClr val="67E1A6"/>
          </a:solidFill>
          <a:ln>
            <a:solidFill>
              <a:srgbClr val="67E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3246120"/>
            <a:ext cx="3154679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400" b="1" i="0">
                <a:solidFill>
                  <a:srgbClr val="F6F9FD"/>
                </a:solidFill>
                <a:latin typeface="Aptos"/>
              </a:rPr>
              <a:t>Normalization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630168"/>
            <a:ext cx="3154679" cy="676655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Branding, time formatting, and abbreviation expansion.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3108960"/>
            <a:ext cx="3474720" cy="1298448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3108960"/>
            <a:ext cx="59436" cy="1298448"/>
          </a:xfrm>
          <a:prstGeom prst="rect">
            <a:avLst/>
          </a:prstGeom>
          <a:solidFill>
            <a:srgbClr val="FFC466"/>
          </a:solidFill>
          <a:ln>
            <a:solidFill>
              <a:srgbClr val="FFC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3246120"/>
            <a:ext cx="3154679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400" b="1" i="0">
                <a:solidFill>
                  <a:srgbClr val="F6F9FD"/>
                </a:solidFill>
                <a:latin typeface="Aptos"/>
              </a:rPr>
              <a:t>Knowledge retrieval tests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3630168"/>
            <a:ext cx="3154679" cy="676655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Mocked RAG, context limits, and error fallbacks.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212080"/>
            <a:ext cx="10241280" cy="594360"/>
          </a:xfrm>
          <a:prstGeom prst="roundRect">
            <a:avLst/>
          </a:prstGeom>
          <a:solidFill>
            <a:srgbClr val="3D3125"/>
          </a:solidFill>
          <a:ln>
            <a:solidFill>
              <a:srgbClr val="3D31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376672"/>
            <a:ext cx="987552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100" b="1" i="0">
                <a:solidFill>
                  <a:srgbClr val="FFC466"/>
                </a:solidFill>
                <a:latin typeface="Aptos"/>
              </a:rPr>
              <a:t>Mocked local tests do not prove live phone calls or external services work end-to-end.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2600" b="1" i="0">
                <a:solidFill>
                  <a:srgbClr val="F6F9FD"/>
                </a:solidFill>
                <a:latin typeface="Aptos"/>
              </a:rPr>
              <a:t>11 | Compatibility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0392"/>
            <a:ext cx="685800" cy="50292"/>
          </a:xfrm>
          <a:prstGeom prst="rect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Practical issues addressed for Windows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/>
            <a:r>
              <a:rPr sz="900" b="0" i="0">
                <a:solidFill>
                  <a:srgbClr val="B2C1D3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3383280" cy="164592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59436" cy="1645920"/>
          </a:xfrm>
          <a:prstGeom prst="rect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30632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500" b="1" i="0">
                <a:solidFill>
                  <a:srgbClr val="F6F9FD"/>
                </a:solidFill>
                <a:latin typeface="Aptos"/>
              </a:rPr>
              <a:t>Console encoding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67128"/>
            <a:ext cx="3063240" cy="102412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200" b="0" i="0">
                <a:solidFill>
                  <a:srgbClr val="B2C1D3"/>
                </a:solidFill>
                <a:latin typeface="Aptos"/>
              </a:rPr>
              <a:t>UTF-8 stream handling to reduce CP1252 encoding errors.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645920"/>
            <a:ext cx="3383280" cy="164592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645920"/>
            <a:ext cx="59436" cy="1645920"/>
          </a:xfrm>
          <a:prstGeom prst="rect">
            <a:avLst/>
          </a:prstGeom>
          <a:solidFill>
            <a:srgbClr val="60DCE8"/>
          </a:solidFill>
          <a:ln>
            <a:solidFill>
              <a:srgbClr val="6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783080"/>
            <a:ext cx="30632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500" b="1" i="0">
                <a:solidFill>
                  <a:srgbClr val="F6F9FD"/>
                </a:solidFill>
                <a:latin typeface="Aptos"/>
              </a:rPr>
              <a:t>Python 3.13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167128"/>
            <a:ext cx="3063240" cy="102412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200" b="0" i="0">
                <a:solidFill>
                  <a:srgbClr val="B2C1D3"/>
                </a:solidFill>
                <a:latin typeface="Aptos"/>
              </a:rPr>
              <a:t>Compatibility support using audioop-lts for audio code paths.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5" y="1645920"/>
            <a:ext cx="3383280" cy="164592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7575" y="1645920"/>
            <a:ext cx="59436" cy="1645920"/>
          </a:xfrm>
          <a:prstGeom prst="rect">
            <a:avLst/>
          </a:prstGeom>
          <a:solidFill>
            <a:srgbClr val="67E1A6"/>
          </a:solidFill>
          <a:ln>
            <a:solidFill>
              <a:srgbClr val="67E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0455" y="1783080"/>
            <a:ext cx="30632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500" b="1" i="0">
                <a:solidFill>
                  <a:srgbClr val="F6F9FD"/>
                </a:solidFill>
                <a:latin typeface="Aptos"/>
              </a:rPr>
              <a:t>FFmpeg fallback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5" y="2167128"/>
            <a:ext cx="3063240" cy="102412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200" b="0" i="0">
                <a:solidFill>
                  <a:srgbClr val="B2C1D3"/>
                </a:solidFill>
                <a:latin typeface="Aptos"/>
              </a:rPr>
              <a:t>Safer behavior when FFmpeg is unavailable on PATH.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069080"/>
            <a:ext cx="10469880" cy="914400"/>
          </a:xfrm>
          <a:prstGeom prst="roundRect">
            <a:avLst/>
          </a:prstGeom>
          <a:solidFill>
            <a:srgbClr val="223E5B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325112"/>
            <a:ext cx="9875520" cy="3657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400" b="1" i="0">
                <a:solidFill>
                  <a:srgbClr val="F6F9FD"/>
                </a:solidFill>
                <a:latin typeface="Aptos"/>
              </a:rPr>
              <a:t>These improvements support local reliability but do not replace full integration testing.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49240"/>
            <a:ext cx="1024128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000" b="0" i="0">
                <a:solidFill>
                  <a:srgbClr val="B2C1D3"/>
                </a:solidFill>
                <a:latin typeface="Aptos"/>
              </a:rPr>
              <a:t>Exact changed files and line-level edits should be verified against the final source-code diff.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2600" b="1" i="0">
                <a:solidFill>
                  <a:srgbClr val="F6F9FD"/>
                </a:solidFill>
                <a:latin typeface="Aptos"/>
              </a:rPr>
              <a:t>12 | Limitations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0392"/>
            <a:ext cx="685800" cy="50292"/>
          </a:xfrm>
          <a:prstGeom prst="rect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What should be verified or improved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/>
            <a:r>
              <a:rPr sz="900" b="0" i="0">
                <a:solidFill>
                  <a:srgbClr val="B2C1D3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57800" cy="182880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9436" cy="1828800"/>
          </a:xfrm>
          <a:prstGeom prst="rect">
            <a:avLst/>
          </a:prstGeom>
          <a:solidFill>
            <a:srgbClr val="FFC466"/>
          </a:solidFill>
          <a:ln>
            <a:solidFill>
              <a:srgbClr val="FFC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39"/>
            <a:ext cx="49377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500" b="1" i="0">
                <a:solidFill>
                  <a:srgbClr val="F6F9FD"/>
                </a:solidFill>
                <a:latin typeface="Aptos"/>
              </a:rPr>
              <a:t>Verification 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4937760" cy="120700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200" b="0" i="0">
                <a:solidFill>
                  <a:srgbClr val="B2C1D3"/>
                </a:solidFill>
                <a:latin typeface="Aptos"/>
              </a:rPr>
              <a:t>Local tests cover selected logic. Live telephony, external APIs, database connectivity, and reminder delivery need separate end-to-end tests.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257800" cy="182880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59436" cy="1828800"/>
          </a:xfrm>
          <a:prstGeom prst="rect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39"/>
            <a:ext cx="49377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500" b="1" i="0">
                <a:solidFill>
                  <a:srgbClr val="F6F9FD"/>
                </a:solidFill>
                <a:latin typeface="Aptos"/>
              </a:rPr>
              <a:t>Future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75688"/>
            <a:ext cx="4937760" cy="120700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200" b="0" i="0">
                <a:solidFill>
                  <a:srgbClr val="B2C1D3"/>
                </a:solidFill>
                <a:latin typeface="Aptos"/>
              </a:rPr>
              <a:t>• Add end-to-end call tests
• Evaluate multilingual accuracy
• Add monitoring and retry handling
• Strengthen privacy and access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23360"/>
            <a:ext cx="10469880" cy="1005840"/>
          </a:xfrm>
          <a:prstGeom prst="roundRect">
            <a:avLst/>
          </a:prstGeom>
          <a:solidFill>
            <a:srgbClr val="223E5B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33672"/>
            <a:ext cx="9875520" cy="274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400" b="1" i="0">
                <a:solidFill>
                  <a:srgbClr val="26D2BE"/>
                </a:solidFill>
                <a:latin typeface="Aptos"/>
              </a:rPr>
              <a:t>RESPONSIBLE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90288"/>
            <a:ext cx="987552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200" b="0" i="0">
                <a:solidFill>
                  <a:srgbClr val="F6F9FD"/>
                </a:solidFill>
                <a:latin typeface="Aptos"/>
              </a:rPr>
              <a:t>Supports routine information and scheduling; not a substitute for medical advice.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2600" b="1" i="0">
                <a:solidFill>
                  <a:srgbClr val="F6F9FD"/>
                </a:solidFill>
                <a:latin typeface="Aptos"/>
              </a:rPr>
              <a:t>13 |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50392"/>
            <a:ext cx="685800" cy="50292"/>
          </a:xfrm>
          <a:prstGeom prst="rect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87552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100" b="0" i="0">
                <a:solidFill>
                  <a:srgbClr val="B2C1D3"/>
                </a:solidFill>
                <a:latin typeface="Aptos"/>
              </a:rPr>
              <a:t>What this project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/>
            <a:r>
              <a:rPr sz="900" b="0" i="0">
                <a:solidFill>
                  <a:srgbClr val="B2C1D3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5212080" cy="109728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59436" cy="1097280"/>
          </a:xfrm>
          <a:prstGeom prst="rect">
            <a:avLst/>
          </a:prstGeom>
          <a:solidFill>
            <a:srgbClr val="26D2BE"/>
          </a:solidFill>
          <a:ln>
            <a:solidFill>
              <a:srgbClr val="26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19"/>
            <a:ext cx="48920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500" b="1" i="0">
                <a:solidFill>
                  <a:srgbClr val="F6F9FD"/>
                </a:solidFill>
                <a:latin typeface="Aptos"/>
              </a:rPr>
              <a:t>VOICE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29967"/>
            <a:ext cx="4892040" cy="47548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200" b="0" i="0">
                <a:solidFill>
                  <a:srgbClr val="B2C1D3"/>
                </a:solidFill>
                <a:latin typeface="Aptos"/>
              </a:rPr>
              <a:t>Connects speech recognition and speech generation.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508760"/>
            <a:ext cx="5212080" cy="109728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508760"/>
            <a:ext cx="59436" cy="1097280"/>
          </a:xfrm>
          <a:prstGeom prst="rect">
            <a:avLst/>
          </a:prstGeom>
          <a:solidFill>
            <a:srgbClr val="60DCE8"/>
          </a:solidFill>
          <a:ln>
            <a:solidFill>
              <a:srgbClr val="60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19"/>
            <a:ext cx="48920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500" b="1" i="0">
                <a:solidFill>
                  <a:srgbClr val="F6F9FD"/>
                </a:solidFill>
                <a:latin typeface="Aptos"/>
              </a:rPr>
              <a:t>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29967"/>
            <a:ext cx="4892040" cy="47548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200" b="0" i="0">
                <a:solidFill>
                  <a:srgbClr val="B2C1D3"/>
                </a:solidFill>
                <a:latin typeface="Aptos"/>
              </a:rPr>
              <a:t>Uses hospital documents to support relevant answers.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880360"/>
            <a:ext cx="5212080" cy="109728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80360"/>
            <a:ext cx="59436" cy="1097280"/>
          </a:xfrm>
          <a:prstGeom prst="rect">
            <a:avLst/>
          </a:prstGeom>
          <a:solidFill>
            <a:srgbClr val="67E1A6"/>
          </a:solidFill>
          <a:ln>
            <a:solidFill>
              <a:srgbClr val="67E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17520"/>
            <a:ext cx="48920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500" b="1" i="0">
                <a:solidFill>
                  <a:srgbClr val="F6F9FD"/>
                </a:solidFill>
                <a:latin typeface="Aptos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401568"/>
            <a:ext cx="4892040" cy="47548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200" b="0" i="0">
                <a:solidFill>
                  <a:srgbClr val="B2C1D3"/>
                </a:solidFill>
                <a:latin typeface="Aptos"/>
              </a:rPr>
              <a:t>Combines APIs, validation, storage, and scheduled tasks.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2880360"/>
            <a:ext cx="5212080" cy="1097280"/>
          </a:xfrm>
          <a:prstGeom prst="roundRect">
            <a:avLst/>
          </a:prstGeom>
          <a:solidFill>
            <a:srgbClr val="182F4C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2880360"/>
            <a:ext cx="59436" cy="1097280"/>
          </a:xfrm>
          <a:prstGeom prst="rect">
            <a:avLst/>
          </a:prstGeom>
          <a:solidFill>
            <a:srgbClr val="FFC466"/>
          </a:solidFill>
          <a:ln>
            <a:solidFill>
              <a:srgbClr val="FFC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017520"/>
            <a:ext cx="48920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500" b="1" i="0">
                <a:solidFill>
                  <a:srgbClr val="F6F9FD"/>
                </a:solidFill>
                <a:latin typeface="Aptos"/>
              </a:rPr>
              <a:t>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01568"/>
            <a:ext cx="4892040" cy="475487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/>
            <a:r>
              <a:rPr sz="1200" b="0" i="0">
                <a:solidFill>
                  <a:srgbClr val="B2C1D3"/>
                </a:solidFill>
                <a:latin typeface="Aptos"/>
              </a:rPr>
              <a:t>Includes automated tests and Windows compatibility.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617720"/>
            <a:ext cx="10424160" cy="777240"/>
          </a:xfrm>
          <a:prstGeom prst="roundRect">
            <a:avLst/>
          </a:prstGeom>
          <a:solidFill>
            <a:srgbClr val="223E5B"/>
          </a:solidFill>
          <a:ln>
            <a:solidFill>
              <a:srgbClr val="22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846320"/>
            <a:ext cx="996696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900" b="1" i="0">
                <a:solidFill>
                  <a:srgbClr val="F6F9FD"/>
                </a:solidFill>
                <a:latin typeface="Aptos"/>
              </a:rPr>
              <a:t>THANK YOU  |  QUESTIONS &amp; DISCUSSION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ctr"/>
            <a:r>
              <a:rPr sz="1000" b="0" i="0">
                <a:solidFill>
                  <a:srgbClr val="B2C1D3"/>
                </a:solidFill>
                <a:latin typeface="Aptos"/>
              </a:rPr>
              <a:t>Attribution: customized from the open-source Sarvam-Voice-Agent project by Srinath S. Preserve and follow the original repository license.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Anurag AI Hospital — Multilingual AI Voice Assistant</dc:title>
  <dc:subject>Panel presentation</dc:subject>
  <dc:creator>Anurag Deshmukh</dc:creator>
  <cp:keywords>AI, voice assistant, hospital, Twilio, FastAPI, Sarvam AI, RAG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